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amond" charset="1" panose="02020404030301010803"/>
      <p:regular r:id="rId14"/>
    </p:embeddedFont>
    <p:embeddedFont>
      <p:font typeface="Garamond Bold" charset="1" panose="02020804030307010803"/>
      <p:regular r:id="rId15"/>
    </p:embeddedFont>
    <p:embeddedFont>
      <p:font typeface="Inter" charset="1" panose="02000503000000020004"/>
      <p:regular r:id="rId16"/>
    </p:embeddedFont>
    <p:embeddedFont>
      <p:font typeface="Inter Bold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8060" y="4314490"/>
            <a:ext cx="3132913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986942" y="289375"/>
            <a:ext cx="9891730" cy="989173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2500">
                  <a:srgbClr val="000000">
                    <a:alpha val="100000"/>
                  </a:srgbClr>
                </a:gs>
                <a:gs pos="25000">
                  <a:srgbClr val="000000">
                    <a:alpha val="100000"/>
                  </a:srgbClr>
                </a:gs>
                <a:gs pos="37500">
                  <a:srgbClr val="000000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62500">
                  <a:srgbClr val="EBE6E6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87500">
                  <a:srgbClr val="000000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53169" y="339062"/>
              <a:ext cx="5643663" cy="5618537"/>
            </a:xfrm>
            <a:custGeom>
              <a:avLst/>
              <a:gdLst/>
              <a:ahLst/>
              <a:cxnLst/>
              <a:rect r="r" b="b" t="t" l="l"/>
              <a:pathLst>
                <a:path h="5618537" w="5643663">
                  <a:moveTo>
                    <a:pt x="2821831" y="28"/>
                  </a:move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9"/>
                    <a:pt x="1815193" y="5623010"/>
                    <a:pt x="2821831" y="5618508"/>
                  </a:cubicBezTo>
                  <a:cubicBezTo>
                    <a:pt x="3828469" y="5623010"/>
                    <a:pt x="4760572" y="5088559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8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2"/>
              <a:stretch>
                <a:fillRect l="223" t="-19973" r="223" b="-1997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3154111">
            <a:off x="-4786834" y="7167632"/>
            <a:ext cx="11007789" cy="10361082"/>
          </a:xfrm>
          <a:custGeom>
            <a:avLst/>
            <a:gdLst/>
            <a:ahLst/>
            <a:cxnLst/>
            <a:rect r="r" b="b" t="t" l="l"/>
            <a:pathLst>
              <a:path h="10361082" w="11007789">
                <a:moveTo>
                  <a:pt x="0" y="0"/>
                </a:moveTo>
                <a:lnTo>
                  <a:pt x="11007789" y="0"/>
                </a:lnTo>
                <a:lnTo>
                  <a:pt x="11007789" y="10361081"/>
                </a:lnTo>
                <a:lnTo>
                  <a:pt x="0" y="10361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8060" y="914400"/>
            <a:ext cx="7955940" cy="288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BusSync — AI-Powered Campus Transport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060" y="4771690"/>
            <a:ext cx="629291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Dynamic Route Updates Using an AI Agent | Divyanshi Solanki | IBM SkillsBuild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3146389"/>
            <a:ext cx="3132913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8448" y="6995041"/>
            <a:ext cx="7807833" cy="8229600"/>
          </a:xfrm>
          <a:custGeom>
            <a:avLst/>
            <a:gdLst/>
            <a:ahLst/>
            <a:cxnLst/>
            <a:rect r="r" b="b" t="t" l="l"/>
            <a:pathLst>
              <a:path h="8229600" w="7807833">
                <a:moveTo>
                  <a:pt x="0" y="0"/>
                </a:moveTo>
                <a:lnTo>
                  <a:pt x="7807833" y="0"/>
                </a:lnTo>
                <a:lnTo>
                  <a:pt x="78078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3651" y="3796234"/>
            <a:ext cx="5130300" cy="5855049"/>
            <a:chOff x="0" y="0"/>
            <a:chExt cx="1351190" cy="1542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1190" cy="1542071"/>
            </a:xfrm>
            <a:custGeom>
              <a:avLst/>
              <a:gdLst/>
              <a:ahLst/>
              <a:cxnLst/>
              <a:rect r="r" b="b" t="t" l="l"/>
              <a:pathLst>
                <a:path h="1542071" w="1351190">
                  <a:moveTo>
                    <a:pt x="76962" y="0"/>
                  </a:moveTo>
                  <a:lnTo>
                    <a:pt x="1274228" y="0"/>
                  </a:lnTo>
                  <a:cubicBezTo>
                    <a:pt x="1294640" y="0"/>
                    <a:pt x="1314215" y="8108"/>
                    <a:pt x="1328648" y="22542"/>
                  </a:cubicBezTo>
                  <a:cubicBezTo>
                    <a:pt x="1343082" y="36975"/>
                    <a:pt x="1351190" y="56550"/>
                    <a:pt x="1351190" y="76962"/>
                  </a:cubicBezTo>
                  <a:lnTo>
                    <a:pt x="1351190" y="1465109"/>
                  </a:lnTo>
                  <a:cubicBezTo>
                    <a:pt x="1351190" y="1507614"/>
                    <a:pt x="1316733" y="1542071"/>
                    <a:pt x="1274228" y="1542071"/>
                  </a:cubicBezTo>
                  <a:lnTo>
                    <a:pt x="76962" y="1542071"/>
                  </a:lnTo>
                  <a:cubicBezTo>
                    <a:pt x="56550" y="1542071"/>
                    <a:pt x="36975" y="1533962"/>
                    <a:pt x="22542" y="1519529"/>
                  </a:cubicBezTo>
                  <a:cubicBezTo>
                    <a:pt x="8108" y="1505096"/>
                    <a:pt x="0" y="1485520"/>
                    <a:pt x="0" y="1465109"/>
                  </a:cubicBezTo>
                  <a:lnTo>
                    <a:pt x="0" y="76962"/>
                  </a:lnTo>
                  <a:cubicBezTo>
                    <a:pt x="0" y="56550"/>
                    <a:pt x="8108" y="36975"/>
                    <a:pt x="22542" y="22542"/>
                  </a:cubicBezTo>
                  <a:cubicBezTo>
                    <a:pt x="36975" y="8108"/>
                    <a:pt x="56550" y="0"/>
                    <a:pt x="76962" y="0"/>
                  </a:cubicBezTo>
                  <a:close/>
                </a:path>
              </a:pathLst>
            </a:custGeom>
            <a:solidFill>
              <a:srgbClr val="003C84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51190" cy="1580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99382" y="3796234"/>
            <a:ext cx="5524225" cy="5855049"/>
            <a:chOff x="0" y="0"/>
            <a:chExt cx="1454940" cy="1542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4940" cy="1542071"/>
            </a:xfrm>
            <a:custGeom>
              <a:avLst/>
              <a:gdLst/>
              <a:ahLst/>
              <a:cxnLst/>
              <a:rect r="r" b="b" t="t" l="l"/>
              <a:pathLst>
                <a:path h="1542071" w="1454940">
                  <a:moveTo>
                    <a:pt x="71474" y="0"/>
                  </a:moveTo>
                  <a:lnTo>
                    <a:pt x="1383466" y="0"/>
                  </a:lnTo>
                  <a:cubicBezTo>
                    <a:pt x="1422940" y="0"/>
                    <a:pt x="1454940" y="32000"/>
                    <a:pt x="1454940" y="71474"/>
                  </a:cubicBezTo>
                  <a:lnTo>
                    <a:pt x="1454940" y="1470597"/>
                  </a:lnTo>
                  <a:cubicBezTo>
                    <a:pt x="1454940" y="1489553"/>
                    <a:pt x="1447410" y="1507732"/>
                    <a:pt x="1434006" y="1521136"/>
                  </a:cubicBezTo>
                  <a:cubicBezTo>
                    <a:pt x="1420602" y="1534540"/>
                    <a:pt x="1402422" y="1542071"/>
                    <a:pt x="1383466" y="1542071"/>
                  </a:cubicBezTo>
                  <a:lnTo>
                    <a:pt x="71474" y="1542071"/>
                  </a:lnTo>
                  <a:cubicBezTo>
                    <a:pt x="52518" y="1542071"/>
                    <a:pt x="34338" y="1534540"/>
                    <a:pt x="20934" y="1521136"/>
                  </a:cubicBezTo>
                  <a:cubicBezTo>
                    <a:pt x="7530" y="1507732"/>
                    <a:pt x="0" y="1489553"/>
                    <a:pt x="0" y="1470597"/>
                  </a:cubicBezTo>
                  <a:lnTo>
                    <a:pt x="0" y="71474"/>
                  </a:lnTo>
                  <a:cubicBezTo>
                    <a:pt x="0" y="52518"/>
                    <a:pt x="7530" y="34338"/>
                    <a:pt x="20934" y="20934"/>
                  </a:cubicBezTo>
                  <a:cubicBezTo>
                    <a:pt x="34338" y="7530"/>
                    <a:pt x="52518" y="0"/>
                    <a:pt x="71474" y="0"/>
                  </a:cubicBezTo>
                  <a:close/>
                </a:path>
              </a:pathLst>
            </a:custGeom>
            <a:solidFill>
              <a:srgbClr val="003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54940" cy="1580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33158" y="3796234"/>
            <a:ext cx="5060630" cy="5855049"/>
            <a:chOff x="0" y="0"/>
            <a:chExt cx="1332841" cy="1542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2841" cy="1542071"/>
            </a:xfrm>
            <a:custGeom>
              <a:avLst/>
              <a:gdLst/>
              <a:ahLst/>
              <a:cxnLst/>
              <a:rect r="r" b="b" t="t" l="l"/>
              <a:pathLst>
                <a:path h="1542071" w="1332841">
                  <a:moveTo>
                    <a:pt x="78021" y="0"/>
                  </a:moveTo>
                  <a:lnTo>
                    <a:pt x="1254819" y="0"/>
                  </a:lnTo>
                  <a:cubicBezTo>
                    <a:pt x="1275512" y="0"/>
                    <a:pt x="1295357" y="8220"/>
                    <a:pt x="1309989" y="22852"/>
                  </a:cubicBezTo>
                  <a:cubicBezTo>
                    <a:pt x="1324621" y="37484"/>
                    <a:pt x="1332841" y="57329"/>
                    <a:pt x="1332841" y="78021"/>
                  </a:cubicBezTo>
                  <a:lnTo>
                    <a:pt x="1332841" y="1464049"/>
                  </a:lnTo>
                  <a:cubicBezTo>
                    <a:pt x="1332841" y="1484742"/>
                    <a:pt x="1324621" y="1504587"/>
                    <a:pt x="1309989" y="1519219"/>
                  </a:cubicBezTo>
                  <a:cubicBezTo>
                    <a:pt x="1295357" y="1533851"/>
                    <a:pt x="1275512" y="1542071"/>
                    <a:pt x="1254819" y="1542071"/>
                  </a:cubicBezTo>
                  <a:lnTo>
                    <a:pt x="78021" y="1542071"/>
                  </a:lnTo>
                  <a:cubicBezTo>
                    <a:pt x="57329" y="1542071"/>
                    <a:pt x="37484" y="1533851"/>
                    <a:pt x="22852" y="1519219"/>
                  </a:cubicBezTo>
                  <a:cubicBezTo>
                    <a:pt x="8220" y="1504587"/>
                    <a:pt x="0" y="1484742"/>
                    <a:pt x="0" y="1464049"/>
                  </a:cubicBezTo>
                  <a:lnTo>
                    <a:pt x="0" y="78021"/>
                  </a:lnTo>
                  <a:cubicBezTo>
                    <a:pt x="0" y="57329"/>
                    <a:pt x="8220" y="37484"/>
                    <a:pt x="22852" y="22852"/>
                  </a:cubicBezTo>
                  <a:cubicBezTo>
                    <a:pt x="37484" y="8220"/>
                    <a:pt x="57329" y="0"/>
                    <a:pt x="78021" y="0"/>
                  </a:cubicBezTo>
                  <a:close/>
                </a:path>
              </a:pathLst>
            </a:custGeom>
            <a:solidFill>
              <a:srgbClr val="003C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32841" cy="1580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829451" y="5080516"/>
            <a:ext cx="3132913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295381" y="5080516"/>
            <a:ext cx="3132913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2761310" y="5080516"/>
            <a:ext cx="3132913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868425" y="-4823891"/>
            <a:ext cx="7807833" cy="8229600"/>
          </a:xfrm>
          <a:custGeom>
            <a:avLst/>
            <a:gdLst/>
            <a:ahLst/>
            <a:cxnLst/>
            <a:rect r="r" b="b" t="t" l="l"/>
            <a:pathLst>
              <a:path h="8229600" w="7807833">
                <a:moveTo>
                  <a:pt x="0" y="0"/>
                </a:moveTo>
                <a:lnTo>
                  <a:pt x="7807833" y="0"/>
                </a:lnTo>
                <a:lnTo>
                  <a:pt x="78078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516255"/>
            <a:ext cx="375600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Current Operational Challenges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14400"/>
            <a:ext cx="10930502" cy="19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 strike="noStrike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Fragmented Communication Causes Chaos in Campus Transportation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0627" y="5441914"/>
            <a:ext cx="4336347" cy="198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Last-minute bus route changes and merged stop updates fail to reach students and staff in real-time, resulting in widespread daily scheduling confusion.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95381" y="5441914"/>
            <a:ext cx="4336347" cy="238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Reli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ance on individual drivers and conductors to relay updates manually leads to frequent operational delays and the rapid spread of inaccurate route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30134" y="5441914"/>
            <a:ext cx="4336347" cy="198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absence of a centralized digital platform prevents syncing transit office decisions directly with the mobile devices of the student body effectively.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9451" y="4295020"/>
            <a:ext cx="295525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Information Lag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95381" y="4295020"/>
            <a:ext cx="3884414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anual Dependency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42623" y="4295020"/>
            <a:ext cx="405943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ack of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9356" y="7093464"/>
            <a:ext cx="16189944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561537" y="3783962"/>
            <a:ext cx="2865180" cy="2814202"/>
          </a:xfrm>
          <a:custGeom>
            <a:avLst/>
            <a:gdLst/>
            <a:ahLst/>
            <a:cxnLst/>
            <a:rect r="r" b="b" t="t" l="l"/>
            <a:pathLst>
              <a:path h="2814202" w="2865180">
                <a:moveTo>
                  <a:pt x="0" y="0"/>
                </a:moveTo>
                <a:lnTo>
                  <a:pt x="2865179" y="0"/>
                </a:lnTo>
                <a:lnTo>
                  <a:pt x="2865179" y="2814202"/>
                </a:lnTo>
                <a:lnTo>
                  <a:pt x="0" y="281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2321" t="-99803" r="-97534" b="-1998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06409" y="3783962"/>
            <a:ext cx="2845183" cy="2814202"/>
          </a:xfrm>
          <a:custGeom>
            <a:avLst/>
            <a:gdLst/>
            <a:ahLst/>
            <a:cxnLst/>
            <a:rect r="r" b="b" t="t" l="l"/>
            <a:pathLst>
              <a:path h="2814202" w="2845183">
                <a:moveTo>
                  <a:pt x="0" y="0"/>
                </a:moveTo>
                <a:lnTo>
                  <a:pt x="2845183" y="0"/>
                </a:lnTo>
                <a:lnTo>
                  <a:pt x="2845183" y="2814202"/>
                </a:lnTo>
                <a:lnTo>
                  <a:pt x="0" y="281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7012" r="-387503" b="-9790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41185" y="3732128"/>
            <a:ext cx="2865508" cy="2866036"/>
          </a:xfrm>
          <a:custGeom>
            <a:avLst/>
            <a:gdLst/>
            <a:ahLst/>
            <a:cxnLst/>
            <a:rect r="r" b="b" t="t" l="l"/>
            <a:pathLst>
              <a:path h="2866036" w="2865508">
                <a:moveTo>
                  <a:pt x="0" y="0"/>
                </a:moveTo>
                <a:lnTo>
                  <a:pt x="2865508" y="0"/>
                </a:lnTo>
                <a:lnTo>
                  <a:pt x="2865508" y="2866036"/>
                </a:lnTo>
                <a:lnTo>
                  <a:pt x="0" y="2866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863" t="0" r="-97224" b="-29180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85201" y="268734"/>
            <a:ext cx="4332782" cy="1407101"/>
          </a:xfrm>
          <a:custGeom>
            <a:avLst/>
            <a:gdLst/>
            <a:ahLst/>
            <a:cxnLst/>
            <a:rect r="r" b="b" t="t" l="l"/>
            <a:pathLst>
              <a:path h="1407101" w="4332782">
                <a:moveTo>
                  <a:pt x="0" y="0"/>
                </a:moveTo>
                <a:lnTo>
                  <a:pt x="4332782" y="0"/>
                </a:lnTo>
                <a:lnTo>
                  <a:pt x="4332782" y="1407101"/>
                </a:lnTo>
                <a:lnTo>
                  <a:pt x="0" y="1407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03" t="-218554" r="-36622" b="-11179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54904" y="1885385"/>
            <a:ext cx="8260577" cy="8229600"/>
          </a:xfrm>
          <a:custGeom>
            <a:avLst/>
            <a:gdLst/>
            <a:ahLst/>
            <a:cxnLst/>
            <a:rect r="r" b="b" t="t" l="l"/>
            <a:pathLst>
              <a:path h="8229600" w="8260577">
                <a:moveTo>
                  <a:pt x="0" y="0"/>
                </a:moveTo>
                <a:lnTo>
                  <a:pt x="8260577" y="0"/>
                </a:lnTo>
                <a:lnTo>
                  <a:pt x="82605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5813" y="7550982"/>
            <a:ext cx="2083184" cy="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Quali</a:t>
            </a: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ty Education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673" y="8041398"/>
            <a:ext cx="3543463" cy="13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</a:pPr>
            <a:r>
              <a:rPr lang="en-US" sz="197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Ensures un</a:t>
            </a:r>
            <a:r>
              <a:rPr lang="en-US" sz="197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interrupted access to campus for all learners by effectively removing transport-related barriers.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21853" y="7550982"/>
            <a:ext cx="3562854" cy="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ndustry &amp; Innovation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41244" y="8041398"/>
            <a:ext cx="3543463" cy="13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</a:pPr>
            <a:r>
              <a:rPr lang="en-US" sz="197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</a:t>
            </a:r>
            <a:r>
              <a:rPr lang="en-US" sz="197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gitizes legacy institutional transport management by applying advanced AI and modern cloud infrastructure.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04509" y="8041398"/>
            <a:ext cx="4077818" cy="1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</a:pPr>
            <a:r>
              <a:rPr lang="en-US" sz="18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Enables rel</a:t>
            </a:r>
            <a:r>
              <a:rPr lang="en-US" sz="18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iable, accessible campus transport that reduces carbon footprints by optimizing bus route occupancy.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5673" y="1837760"/>
            <a:ext cx="14580491" cy="85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1"/>
              </a:lnSpc>
              <a:spcBef>
                <a:spcPct val="0"/>
              </a:spcBef>
            </a:pPr>
            <a:r>
              <a:rPr lang="en-US" sz="250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BusSync advances global susta</a:t>
            </a:r>
            <a:r>
              <a:rPr lang="en-US" sz="250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inability through institutional value, access, innovation, and reduced carbon impact.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94158" y="7550982"/>
            <a:ext cx="3498520" cy="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18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ustainable Communities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1101" y="508501"/>
            <a:ext cx="14580491" cy="94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 strike="noStrike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Alignment to Sustainable development Goals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382327" y="972284"/>
            <a:ext cx="8260577" cy="8229600"/>
          </a:xfrm>
          <a:custGeom>
            <a:avLst/>
            <a:gdLst/>
            <a:ahLst/>
            <a:cxnLst/>
            <a:rect r="r" b="b" t="t" l="l"/>
            <a:pathLst>
              <a:path h="8229600" w="8260577">
                <a:moveTo>
                  <a:pt x="0" y="0"/>
                </a:moveTo>
                <a:lnTo>
                  <a:pt x="8260577" y="0"/>
                </a:lnTo>
                <a:lnTo>
                  <a:pt x="82605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44534" y="4025451"/>
            <a:ext cx="10846260" cy="8229600"/>
          </a:xfrm>
          <a:custGeom>
            <a:avLst/>
            <a:gdLst/>
            <a:ahLst/>
            <a:cxnLst/>
            <a:rect r="r" b="b" t="t" l="l"/>
            <a:pathLst>
              <a:path h="8229600" w="10846260">
                <a:moveTo>
                  <a:pt x="0" y="0"/>
                </a:moveTo>
                <a:lnTo>
                  <a:pt x="10846260" y="0"/>
                </a:lnTo>
                <a:lnTo>
                  <a:pt x="10846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7677" y="4818829"/>
            <a:ext cx="5889705" cy="4791053"/>
            <a:chOff x="0" y="0"/>
            <a:chExt cx="912469" cy="742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2469" cy="742260"/>
            </a:xfrm>
            <a:custGeom>
              <a:avLst/>
              <a:gdLst/>
              <a:ahLst/>
              <a:cxnLst/>
              <a:rect r="r" b="b" t="t" l="l"/>
              <a:pathLst>
                <a:path h="742260" w="912469">
                  <a:moveTo>
                    <a:pt x="0" y="0"/>
                  </a:moveTo>
                  <a:lnTo>
                    <a:pt x="912469" y="0"/>
                  </a:lnTo>
                  <a:lnTo>
                    <a:pt x="912469" y="742260"/>
                  </a:lnTo>
                  <a:lnTo>
                    <a:pt x="0" y="742260"/>
                  </a:lnTo>
                  <a:close/>
                </a:path>
              </a:pathLst>
            </a:custGeom>
            <a:blipFill>
              <a:blip r:embed="rId3"/>
              <a:stretch>
                <a:fillRect l="0" t="-26000" r="0" b="-2600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471438"/>
            <a:ext cx="8901386" cy="9344125"/>
          </a:xfrm>
          <a:custGeom>
            <a:avLst/>
            <a:gdLst/>
            <a:ahLst/>
            <a:cxnLst/>
            <a:rect r="r" b="b" t="t" l="l"/>
            <a:pathLst>
              <a:path h="9344125" w="8901386">
                <a:moveTo>
                  <a:pt x="0" y="0"/>
                </a:moveTo>
                <a:lnTo>
                  <a:pt x="8901386" y="0"/>
                </a:lnTo>
                <a:lnTo>
                  <a:pt x="8901386" y="9344124"/>
                </a:lnTo>
                <a:lnTo>
                  <a:pt x="0" y="9344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4750"/>
            <a:ext cx="6748682" cy="191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 strike="noStrike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BusSync — Centralized 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44312"/>
            <a:ext cx="7878643" cy="159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2"/>
              </a:lnSpc>
              <a:spcBef>
                <a:spcPct val="0"/>
              </a:spcBef>
            </a:pPr>
            <a:r>
              <a:rPr lang="en-US" sz="22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BusSync serves as a unified web and mobile interface designed to bridge communication gaps, ensuring seamless coordination between transit administrators and daily commuters.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3594" y="5143500"/>
            <a:ext cx="12280812" cy="4943027"/>
          </a:xfrm>
          <a:custGeom>
            <a:avLst/>
            <a:gdLst/>
            <a:ahLst/>
            <a:cxnLst/>
            <a:rect r="r" b="b" t="t" l="l"/>
            <a:pathLst>
              <a:path h="4943027" w="12280812">
                <a:moveTo>
                  <a:pt x="0" y="0"/>
                </a:moveTo>
                <a:lnTo>
                  <a:pt x="12280812" y="0"/>
                </a:lnTo>
                <a:lnTo>
                  <a:pt x="12280812" y="4943027"/>
                </a:lnTo>
                <a:lnTo>
                  <a:pt x="0" y="4943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0627" y="580166"/>
            <a:ext cx="17086747" cy="4358591"/>
          </a:xfrm>
          <a:custGeom>
            <a:avLst/>
            <a:gdLst/>
            <a:ahLst/>
            <a:cxnLst/>
            <a:rect r="r" b="b" t="t" l="l"/>
            <a:pathLst>
              <a:path h="4358591" w="17086747">
                <a:moveTo>
                  <a:pt x="0" y="0"/>
                </a:moveTo>
                <a:lnTo>
                  <a:pt x="17086746" y="0"/>
                </a:lnTo>
                <a:lnTo>
                  <a:pt x="17086746" y="4358591"/>
                </a:lnTo>
                <a:lnTo>
                  <a:pt x="0" y="4358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240648" y="9488805"/>
            <a:ext cx="2269348" cy="2269348"/>
          </a:xfrm>
          <a:custGeom>
            <a:avLst/>
            <a:gdLst/>
            <a:ahLst/>
            <a:cxnLst/>
            <a:rect r="r" b="b" t="t" l="l"/>
            <a:pathLst>
              <a:path h="2269348" w="2269348">
                <a:moveTo>
                  <a:pt x="0" y="0"/>
                </a:moveTo>
                <a:lnTo>
                  <a:pt x="2269348" y="0"/>
                </a:lnTo>
                <a:lnTo>
                  <a:pt x="2269348" y="2269348"/>
                </a:lnTo>
                <a:lnTo>
                  <a:pt x="0" y="2269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6684" y="5343853"/>
            <a:ext cx="744885" cy="64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684" y="6211701"/>
            <a:ext cx="462320" cy="327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2"/>
              </a:lnSpc>
              <a:spcBef>
                <a:spcPct val="0"/>
              </a:spcBef>
            </a:pPr>
            <a:r>
              <a:rPr lang="en-US" sz="3730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AGENT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41742" y="5343853"/>
            <a:ext cx="706915" cy="64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41742" y="6211701"/>
            <a:ext cx="462320" cy="327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2"/>
              </a:lnSpc>
              <a:spcBef>
                <a:spcPct val="0"/>
              </a:spcBef>
            </a:pPr>
            <a:r>
              <a:rPr lang="en-US" sz="3730" strike="noStrike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AGENT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970762" y="9488805"/>
            <a:ext cx="2269348" cy="2269348"/>
          </a:xfrm>
          <a:custGeom>
            <a:avLst/>
            <a:gdLst/>
            <a:ahLst/>
            <a:cxnLst/>
            <a:rect r="r" b="b" t="t" l="l"/>
            <a:pathLst>
              <a:path h="2269348" w="2269348">
                <a:moveTo>
                  <a:pt x="0" y="0"/>
                </a:moveTo>
                <a:lnTo>
                  <a:pt x="2269348" y="0"/>
                </a:lnTo>
                <a:lnTo>
                  <a:pt x="2269348" y="2269348"/>
                </a:lnTo>
                <a:lnTo>
                  <a:pt x="0" y="2269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0094" y="180928"/>
            <a:ext cx="10674139" cy="9864310"/>
          </a:xfrm>
          <a:custGeom>
            <a:avLst/>
            <a:gdLst/>
            <a:ahLst/>
            <a:cxnLst/>
            <a:rect r="r" b="b" t="t" l="l"/>
            <a:pathLst>
              <a:path h="9864310" w="10674139">
                <a:moveTo>
                  <a:pt x="0" y="0"/>
                </a:moveTo>
                <a:lnTo>
                  <a:pt x="10674140" y="0"/>
                </a:lnTo>
                <a:lnTo>
                  <a:pt x="10674140" y="9864310"/>
                </a:lnTo>
                <a:lnTo>
                  <a:pt x="0" y="9864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687" t="0" r="-32602" b="0"/>
            </a:stretch>
          </a:blipFill>
          <a:ln w="66675" cap="sq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746396" y="3991822"/>
            <a:ext cx="8260577" cy="8229600"/>
          </a:xfrm>
          <a:custGeom>
            <a:avLst/>
            <a:gdLst/>
            <a:ahLst/>
            <a:cxnLst/>
            <a:rect r="r" b="b" t="t" l="l"/>
            <a:pathLst>
              <a:path h="8229600" w="8260577">
                <a:moveTo>
                  <a:pt x="0" y="0"/>
                </a:moveTo>
                <a:lnTo>
                  <a:pt x="8260577" y="0"/>
                </a:lnTo>
                <a:lnTo>
                  <a:pt x="82605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94750"/>
            <a:ext cx="4926886" cy="289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1"/>
              </a:lnSpc>
            </a:pPr>
            <a:r>
              <a:rPr lang="en-US" sz="5501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LEAN</a:t>
            </a:r>
          </a:p>
          <a:p>
            <a:pPr algn="l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CANVAS - BusSync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8292" y="201929"/>
            <a:ext cx="7548250" cy="9883142"/>
          </a:xfrm>
          <a:custGeom>
            <a:avLst/>
            <a:gdLst/>
            <a:ahLst/>
            <a:cxnLst/>
            <a:rect r="r" b="b" t="t" l="l"/>
            <a:pathLst>
              <a:path h="9883142" w="7548250">
                <a:moveTo>
                  <a:pt x="0" y="0"/>
                </a:moveTo>
                <a:lnTo>
                  <a:pt x="7548250" y="0"/>
                </a:lnTo>
                <a:lnTo>
                  <a:pt x="7548250" y="9883142"/>
                </a:lnTo>
                <a:lnTo>
                  <a:pt x="0" y="9883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4486" y="201929"/>
            <a:ext cx="7580361" cy="9883142"/>
          </a:xfrm>
          <a:custGeom>
            <a:avLst/>
            <a:gdLst/>
            <a:ahLst/>
            <a:cxnLst/>
            <a:rect r="r" b="b" t="t" l="l"/>
            <a:pathLst>
              <a:path h="9883142" w="7580361">
                <a:moveTo>
                  <a:pt x="0" y="0"/>
                </a:moveTo>
                <a:lnTo>
                  <a:pt x="7580361" y="0"/>
                </a:lnTo>
                <a:lnTo>
                  <a:pt x="7580361" y="9883142"/>
                </a:lnTo>
                <a:lnTo>
                  <a:pt x="0" y="9883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6" t="0" r="-126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-6103526" y="4429875"/>
            <a:ext cx="14580491" cy="94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CONCEPT NOTE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gradFill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92043" y="6114164"/>
            <a:ext cx="473315" cy="9100891"/>
            <a:chOff x="0" y="0"/>
            <a:chExt cx="124659" cy="23969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659" cy="2396942"/>
            </a:xfrm>
            <a:custGeom>
              <a:avLst/>
              <a:gdLst/>
              <a:ahLst/>
              <a:cxnLst/>
              <a:rect r="r" b="b" t="t" l="l"/>
              <a:pathLst>
                <a:path h="239694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396942"/>
                  </a:lnTo>
                  <a:lnTo>
                    <a:pt x="0" y="239694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25000">
                  <a:srgbClr val="555555">
                    <a:alpha val="100000"/>
                  </a:srgbClr>
                </a:gs>
                <a:gs pos="50000">
                  <a:srgbClr val="C4C4C4">
                    <a:alpha val="100000"/>
                  </a:srgbClr>
                </a:gs>
                <a:gs pos="75000">
                  <a:srgbClr val="000000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4659" cy="2435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13421" y="5143500"/>
            <a:ext cx="9500260" cy="8229600"/>
          </a:xfrm>
          <a:custGeom>
            <a:avLst/>
            <a:gdLst/>
            <a:ahLst/>
            <a:cxnLst/>
            <a:rect r="r" b="b" t="t" l="l"/>
            <a:pathLst>
              <a:path h="8229600" w="950026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71700" y="4893218"/>
            <a:ext cx="8376183" cy="8229600"/>
          </a:xfrm>
          <a:custGeom>
            <a:avLst/>
            <a:gdLst/>
            <a:ahLst/>
            <a:cxnLst/>
            <a:rect r="r" b="b" t="t" l="l"/>
            <a:pathLst>
              <a:path h="8229600" w="8376183">
                <a:moveTo>
                  <a:pt x="0" y="0"/>
                </a:moveTo>
                <a:lnTo>
                  <a:pt x="8376183" y="0"/>
                </a:lnTo>
                <a:lnTo>
                  <a:pt x="83761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62950" y="2631610"/>
            <a:ext cx="10901316" cy="507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0"/>
              </a:lnSpc>
            </a:pPr>
            <a:r>
              <a:rPr lang="en-US" b="true" sz="6072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Divyanshi Solanki</a:t>
            </a:r>
          </a:p>
          <a:p>
            <a:pPr algn="l" marL="0" indent="0" lvl="0">
              <a:lnSpc>
                <a:spcPts val="6680"/>
              </a:lnSpc>
            </a:pPr>
            <a:r>
              <a:rPr lang="en-US" b="true" sz="6072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divisolanki54321@gmail.com</a:t>
            </a:r>
          </a:p>
          <a:p>
            <a:pPr algn="l" marL="0" indent="0" lvl="0">
              <a:lnSpc>
                <a:spcPts val="6680"/>
              </a:lnSpc>
            </a:pPr>
          </a:p>
          <a:p>
            <a:pPr algn="l" marL="0" indent="0" lvl="0">
              <a:lnSpc>
                <a:spcPts val="6680"/>
              </a:lnSpc>
            </a:pPr>
          </a:p>
          <a:p>
            <a:pPr algn="l" marL="0" indent="0" lvl="0">
              <a:lnSpc>
                <a:spcPts val="6680"/>
              </a:lnSpc>
            </a:pPr>
            <a:r>
              <a:rPr lang="en-US" b="true" sz="6072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IBM SkillsBuild AI Strategy &amp; Business Intelligence Internship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5700"/>
            <a:ext cx="6644489" cy="115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81"/>
              </a:lnSpc>
              <a:spcBef>
                <a:spcPct val="0"/>
              </a:spcBef>
            </a:pPr>
            <a:r>
              <a:rPr lang="en-US" sz="6701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DAHI-3DyJSU</dc:identifier>
  <dcterms:modified xsi:type="dcterms:W3CDTF">2011-08-01T06:04:30Z</dcterms:modified>
  <cp:revision>1</cp:revision>
  <dc:title>BusSync: AI-Powered Campus Transport</dc:title>
</cp:coreProperties>
</file>